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02" autoAdjust="0"/>
  </p:normalViewPr>
  <p:slideViewPr>
    <p:cSldViewPr>
      <p:cViewPr>
        <p:scale>
          <a:sx n="76" d="100"/>
          <a:sy n="76" d="100"/>
        </p:scale>
        <p:origin x="-1392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" name="Shape 4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/>
            </a:lvl1pPr>
            <a:lvl2pPr marL="0" marR="0" indent="0" algn="l" rtl="0">
              <a:defRPr/>
            </a:lvl2pPr>
            <a:lvl3pPr marL="0" marR="0" indent="0" algn="l" rtl="0">
              <a:defRPr/>
            </a:lvl3pPr>
            <a:lvl4pPr marL="0" marR="0" indent="0" algn="l" rtl="0">
              <a:defRPr/>
            </a:lvl4pPr>
            <a:lvl5pPr marL="0" marR="0" indent="0" algn="l" rtl="0">
              <a:defRPr/>
            </a:lvl5pPr>
            <a:lvl6pPr marL="0" marR="0" indent="0" algn="l" rtl="0">
              <a:defRPr/>
            </a:lvl6pPr>
            <a:lvl7pPr marL="0" marR="0" indent="0" algn="l" rtl="0">
              <a:defRPr/>
            </a:lvl7pPr>
            <a:lvl8pPr marL="0" marR="0" indent="0" algn="l" rtl="0">
              <a:defRPr/>
            </a:lvl8pPr>
            <a:lvl9pPr marL="0" marR="0" indent="0" algn="l" rtl="0"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09656671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None/>
            </a:pPr>
            <a:endParaRPr lang="en-US" sz="1800" b="0" i="0" u="none" strike="noStrike" cap="none" baseline="0" dirty="0"/>
          </a:p>
        </p:txBody>
      </p:sp>
      <p:sp>
        <p:nvSpPr>
          <p:cNvPr id="105" name="Shape 10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dirty="0"/>
              <a:t>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3" name="Shape 1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800" b="1" i="1" u="none" strike="noStrike" cap="none" baseline="0">
                <a:solidFill>
                  <a:srgbClr val="494429"/>
                </a:solidFill>
              </a:rPr>
              <a:t>
</a:t>
            </a:r>
          </a:p>
        </p:txBody>
      </p:sp>
      <p:sp>
        <p:nvSpPr>
          <p:cNvPr id="114" name="Shape 114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 lang="en-US" sz="12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 lang="en-US" sz="12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Shape 13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endParaRPr lang="en-US" sz="12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Shape 141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9" name="Shape 14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None/>
            </a:pPr>
            <a:endParaRPr lang="en-US" sz="1800" b="0" i="0" u="none" strike="noStrike" cap="none" baseline="0" dirty="0"/>
          </a:p>
        </p:txBody>
      </p:sp>
      <p:sp>
        <p:nvSpPr>
          <p:cNvPr id="158" name="Shape 15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66" name="Shape 16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1" name="Shape 1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 lang="en-US" sz="1800" b="0" i="0" u="none" strike="noStrike" cap="none" baseline="0" dirty="0"/>
          </a:p>
          <a:p>
            <a:endParaRPr lang="en-US" sz="1800" b="0" i="0" u="none" strike="noStrike" cap="none" baseline="0" dirty="0"/>
          </a:p>
        </p:txBody>
      </p:sp>
      <p:sp>
        <p:nvSpPr>
          <p:cNvPr id="182" name="Shape 18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0" name="Shape 19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 lang="en-US" sz="1800" b="0" i="0" u="none" strike="noStrike" cap="none" baseline="0" dirty="0"/>
          </a:p>
        </p:txBody>
      </p:sp>
      <p:sp>
        <p:nvSpPr>
          <p:cNvPr id="197" name="Shape 19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205" name="Shape 20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gif"/><Relationship Id="rId12" Type="http://schemas.openxmlformats.org/officeDocument/2006/relationships/image" Target="../media/image10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4.jpeg"/><Relationship Id="rId5" Type="http://schemas.openxmlformats.org/officeDocument/2006/relationships/image" Target="../media/image1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5.jpeg"/><Relationship Id="rId5" Type="http://schemas.openxmlformats.org/officeDocument/2006/relationships/hyperlink" Target="http://www.manifestoformediaeducation.co.uk/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6.jpeg"/><Relationship Id="rId5" Type="http://schemas.openxmlformats.org/officeDocument/2006/relationships/image" Target="../media/image5.gif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hyperlink" Target="http://www.timeshighereducation.co.uk/home/manchester-met-v-c-hits-back-on-graduate-employment/2007814.article" TargetMode="External"/><Relationship Id="rId5" Type="http://schemas.openxmlformats.org/officeDocument/2006/relationships/hyperlink" Target="http://www.timeshighereducation.co.uk/news/employment-skills-dont-fit-with-academic-degrees/2009378.article" TargetMode="External"/><Relationship Id="rId4" Type="http://schemas.openxmlformats.org/officeDocument/2006/relationships/hyperlink" Target="http://www.timeshighereducation.co.uk/beware-the-student-employability-agenda-debate-hears/2001677.artic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Mickey Mouse </a:t>
            </a:r>
            <a:r>
              <a:rPr lang="en-US" sz="2400" b="0" i="0" u="none" strike="noStrike" cap="none" baseline="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n-US" sz="240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b="0" i="0" u="none" strike="noStrike" cap="none" baseline="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Discourses </a:t>
            </a:r>
            <a:r>
              <a:rPr lang="en-US" sz="2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of the Vocational/Technical in Higher </a:t>
            </a:r>
            <a:br>
              <a:rPr lang="en-US" sz="2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Education </a:t>
            </a:r>
          </a:p>
        </p:txBody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-US" sz="1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Richard </a:t>
            </a:r>
            <a:r>
              <a:rPr lang="en-US" sz="1400" b="0" i="0" u="none" strike="noStrike" cap="none" baseline="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Sanders</a:t>
            </a:r>
            <a:r>
              <a:rPr lang="en-US" sz="1400" b="0" i="0" u="none" strike="noStrike" cap="none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400" b="0" i="0" u="none" strike="noStrike" cap="none" baseline="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Harriet </a:t>
            </a:r>
            <a:r>
              <a:rPr lang="en-US" sz="1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Richmond</a:t>
            </a:r>
          </a:p>
          <a:p>
            <a:pPr marL="0" marR="0" lvl="0" indent="0" algn="ctr" rtl="0">
              <a:spcBef>
                <a:spcPts val="640"/>
              </a:spcBef>
              <a:buClr>
                <a:srgbClr val="888888"/>
              </a:buClr>
              <a:buSzPct val="25000"/>
              <a:buFont typeface="Calibri"/>
              <a:buNone/>
            </a:pPr>
            <a:r>
              <a:rPr lang="en-US" sz="1400" b="0" i="0" u="none" strike="noStrike" cap="none" baseline="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Newman University</a:t>
            </a:r>
          </a:p>
        </p:txBody>
      </p:sp>
    </p:spTree>
    <p:custDataLst>
      <p:tags r:id="rId1"/>
    </p:custDataLst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152400" y="1523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400" b="0" i="0" u="none" strike="noStrike" cap="none" baseline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</p:txBody>
      </p:sp>
      <p:sp>
        <p:nvSpPr>
          <p:cNvPr id="91" name="Shape 91"/>
          <p:cNvSpPr txBox="1">
            <a:spLocks noGrp="1"/>
          </p:cNvSpPr>
          <p:nvPr>
            <p:ph sz="quarter" idx="1"/>
          </p:nvPr>
        </p:nvSpPr>
        <p:spPr>
          <a:xfrm>
            <a:off x="320325" y="1588150"/>
            <a:ext cx="4469699" cy="4526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63538" marR="0" lvl="0" indent="-363538" algn="l" rtl="0">
              <a:spcBef>
                <a:spcPts val="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8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and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  <a:p>
            <a:pPr marL="363538" marR="0" lvl="0" indent="-363538" algn="l" rtl="0">
              <a:spcBef>
                <a:spcPts val="56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8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Article from the THES</a:t>
            </a:r>
          </a:p>
          <a:p>
            <a:pPr marL="742950" lvl="1" indent="-285750" rtl="0">
              <a:spcBef>
                <a:spcPts val="480"/>
              </a:spcBef>
              <a:buClr>
                <a:schemeClr val="dk1"/>
              </a:buClr>
              <a:buSzPct val="100000"/>
              <a:buFont typeface="Calibri"/>
              <a:buChar char="–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 of reform agendas</a:t>
            </a:r>
          </a:p>
          <a:p>
            <a:pPr marL="742950" marR="0" lvl="1" indent="-285750" algn="l" rtl="0">
              <a:spcBef>
                <a:spcPts val="480"/>
              </a:spcBef>
              <a:buClr>
                <a:schemeClr val="dk1"/>
              </a:buClr>
              <a:buSzPct val="100000"/>
              <a:buFont typeface="Calibri"/>
              <a:buChar char="–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studies: Media Studies and work-based learning</a:t>
            </a:r>
          </a:p>
          <a:p>
            <a:pPr marL="363538" marR="0" lvl="0" indent="-363538" algn="l" rtl="0">
              <a:spcBef>
                <a:spcPts val="56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8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 to prompt discussion</a:t>
            </a:r>
          </a:p>
          <a:p>
            <a:endParaRPr lang="en-US" sz="28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28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Shape 92"/>
          <p:cNvGrpSpPr/>
          <p:nvPr/>
        </p:nvGrpSpPr>
        <p:grpSpPr>
          <a:xfrm>
            <a:off x="4790022" y="1773583"/>
            <a:ext cx="3831500" cy="3031048"/>
            <a:chOff x="4864922" y="3142658"/>
            <a:chExt cx="3831500" cy="3031048"/>
          </a:xfrm>
        </p:grpSpPr>
        <p:pic>
          <p:nvPicPr>
            <p:cNvPr id="93" name="Shape 93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7719819" y="4223867"/>
              <a:ext cx="976603" cy="752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Shape 94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4864922" y="4213571"/>
              <a:ext cx="976603" cy="7734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Shape 95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6985516" y="4223869"/>
              <a:ext cx="672641" cy="7734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Shape 96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5863932" y="4367919"/>
              <a:ext cx="1122543" cy="629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Shape 97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7591393" y="5261675"/>
              <a:ext cx="924306" cy="912024"/>
            </a:xfrm>
            <a:prstGeom prst="rect">
              <a:avLst/>
            </a:prstGeom>
          </p:spPr>
        </p:pic>
        <p:pic>
          <p:nvPicPr>
            <p:cNvPr id="98" name="Shape 98"/>
            <p:cNvPicPr preferRelativeResize="0"/>
            <p:nvPr/>
          </p:nvPicPr>
          <p:blipFill>
            <a:blip r:embed="rId10"/>
            <a:stretch>
              <a:fillRect/>
            </a:stretch>
          </p:blipFill>
          <p:spPr>
            <a:xfrm>
              <a:off x="5148776" y="5261673"/>
              <a:ext cx="827974" cy="912024"/>
            </a:xfrm>
            <a:prstGeom prst="rect">
              <a:avLst/>
            </a:prstGeom>
          </p:spPr>
        </p:pic>
        <p:pic>
          <p:nvPicPr>
            <p:cNvPr id="99" name="Shape 99"/>
            <p:cNvPicPr preferRelativeResize="0"/>
            <p:nvPr/>
          </p:nvPicPr>
          <p:blipFill>
            <a:blip r:embed="rId11"/>
            <a:stretch>
              <a:fillRect/>
            </a:stretch>
          </p:blipFill>
          <p:spPr>
            <a:xfrm>
              <a:off x="6335502" y="5261666"/>
              <a:ext cx="827974" cy="912041"/>
            </a:xfrm>
            <a:prstGeom prst="rect">
              <a:avLst/>
            </a:prstGeom>
          </p:spPr>
        </p:pic>
        <p:pic>
          <p:nvPicPr>
            <p:cNvPr id="100" name="Shape 100"/>
            <p:cNvPicPr preferRelativeResize="0"/>
            <p:nvPr/>
          </p:nvPicPr>
          <p:blipFill>
            <a:blip r:embed="rId12"/>
            <a:stretch>
              <a:fillRect/>
            </a:stretch>
          </p:blipFill>
          <p:spPr>
            <a:xfrm>
              <a:off x="5553724" y="3176499"/>
              <a:ext cx="1359459" cy="912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Shape 101"/>
            <p:cNvPicPr preferRelativeResize="0"/>
            <p:nvPr/>
          </p:nvPicPr>
          <p:blipFill>
            <a:blip r:embed="rId13"/>
            <a:stretch>
              <a:fillRect/>
            </a:stretch>
          </p:blipFill>
          <p:spPr>
            <a:xfrm>
              <a:off x="7219675" y="3142658"/>
              <a:ext cx="672625" cy="94586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title"/>
          </p:nvPr>
        </p:nvSpPr>
        <p:spPr>
          <a:xfrm>
            <a:off x="152400" y="152387"/>
            <a:ext cx="6867872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400" b="0" i="0" u="none" strike="noStrike" cap="none" baseline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Context and Methodology</a:t>
            </a:r>
          </a:p>
        </p:txBody>
      </p:sp>
      <p:sp>
        <p:nvSpPr>
          <p:cNvPr id="108" name="Shape 108"/>
          <p:cNvSpPr txBox="1">
            <a:spLocks noGrp="1"/>
          </p:cNvSpPr>
          <p:nvPr>
            <p:ph sz="quarter" idx="1"/>
          </p:nvPr>
        </p:nvSpPr>
        <p:spPr>
          <a:xfrm>
            <a:off x="323528" y="1772816"/>
            <a:ext cx="8431350" cy="4526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 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epresents a </a:t>
            </a:r>
            <a:r>
              <a:rPr lang="en-US" sz="2600" i="1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Discourse </a:t>
            </a:r>
            <a:r>
              <a:rPr lang="en-US" sz="2600" i="1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r>
              <a:rPr lang="en-US" sz="2600" b="1" i="0" u="none" strike="noStrike" cap="none" baseline="0" dirty="0" smtClean="0">
                <a:solidFill>
                  <a:srgbClr val="49442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600" b="1" i="0" u="none" strike="noStrike" cap="none" baseline="0" dirty="0" smtClean="0">
                <a:solidFill>
                  <a:srgbClr val="49442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CDA) a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pproach to </a:t>
            </a:r>
            <a:r>
              <a:rPr lang="en-US" sz="2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600" b="0" i="0" u="none" strike="noStrike" cap="none" baseline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nalysing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 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tudies</a:t>
            </a: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6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53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Orientated (</a:t>
            </a:r>
            <a:r>
              <a:rPr lang="en-US" sz="2600" b="0" i="0" u="none" strike="noStrike" cap="none" baseline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Fairclough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2009)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inspecting 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discursive meaning configurations (ibid, 1995)</a:t>
            </a:r>
          </a:p>
          <a:p>
            <a:pPr marL="482600" marR="0" lvl="0" indent="-457200" algn="l" rtl="0">
              <a:spcBef>
                <a:spcPts val="0"/>
              </a:spcBef>
              <a:buClr>
                <a:schemeClr val="dk1"/>
              </a:buClr>
              <a:buSzPct val="106666"/>
              <a:buBlip>
                <a:blip r:embed="rId4"/>
              </a:buBlip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Inspecting how discourse transforms down from political reform agendas to HE institutions via ‘Grey Literature’ (</a:t>
            </a:r>
            <a:r>
              <a:rPr lang="en-US" sz="2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Alberani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al, 1990, p.358).</a:t>
            </a:r>
          </a:p>
          <a:p>
            <a:pPr marL="482600" lvl="0" indent="-457200">
              <a:spcBef>
                <a:spcPts val="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position: Primarily concerned with learners -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 to fit with all stakeholders</a:t>
            </a:r>
            <a:endParaRPr lang="en-US"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Shape 109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236296" y="1412776"/>
            <a:ext cx="1224136" cy="168104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Shape 11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54250" y="2115393"/>
            <a:ext cx="4308024" cy="3062725"/>
          </a:xfrm>
          <a:prstGeom prst="rect">
            <a:avLst/>
          </a:prstGeom>
        </p:spPr>
      </p:pic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2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THES </a:t>
            </a:r>
            <a:r>
              <a:rPr lang="en-US" sz="4200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Article: Employability </a:t>
            </a:r>
            <a:r>
              <a:rPr lang="en-US" sz="42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Tensions</a:t>
            </a:r>
          </a:p>
        </p:txBody>
      </p:sp>
      <p:sp>
        <p:nvSpPr>
          <p:cNvPr id="117" name="Shape 117"/>
          <p:cNvSpPr txBox="1">
            <a:spLocks noGrp="1"/>
          </p:cNvSpPr>
          <p:nvPr>
            <p:ph sz="quarter" idx="1"/>
          </p:nvPr>
        </p:nvSpPr>
        <p:spPr>
          <a:xfrm>
            <a:off x="466814" y="155679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048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Blip>
                <a:blip r:embed="rId5"/>
              </a:buBlip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article highlights the problematic nature of the discourse</a:t>
            </a:r>
          </a:p>
          <a:p>
            <a:pPr marL="304800" marR="0" lvl="0" indent="-342900" algn="l" rtl="0">
              <a:spcBef>
                <a:spcPts val="360"/>
              </a:spcBef>
              <a:buClr>
                <a:schemeClr val="dk1"/>
              </a:buClr>
              <a:buSzPct val="100000"/>
              <a:buBlip>
                <a:blip r:embed="rId5"/>
              </a:buBlip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little common ground between those cited in the article</a:t>
            </a:r>
          </a:p>
          <a:p>
            <a:pPr marL="304800" marR="0" lvl="0" indent="-342900" algn="l" rtl="0">
              <a:spcBef>
                <a:spcPts val="360"/>
              </a:spcBef>
              <a:buClr>
                <a:schemeClr val="dk1"/>
              </a:buClr>
              <a:buSzPct val="100000"/>
              <a:buBlip>
                <a:blip r:embed="rId5"/>
              </a:buBlip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agree with Mr. Longworth’s assessment that everyone is getting too defensive over ‘employability’</a:t>
            </a:r>
          </a:p>
        </p:txBody>
      </p:sp>
      <p:sp>
        <p:nvSpPr>
          <p:cNvPr id="119" name="Shape 119"/>
          <p:cNvSpPr txBox="1"/>
          <p:nvPr/>
        </p:nvSpPr>
        <p:spPr>
          <a:xfrm>
            <a:off x="4485825" y="1700808"/>
            <a:ext cx="4455300" cy="34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Times Higher Education Supplement (THES)</a:t>
            </a:r>
          </a:p>
        </p:txBody>
      </p:sp>
      <p:sp>
        <p:nvSpPr>
          <p:cNvPr id="120" name="Shape 120"/>
          <p:cNvSpPr txBox="1"/>
          <p:nvPr/>
        </p:nvSpPr>
        <p:spPr>
          <a:xfrm>
            <a:off x="5862250" y="5247983"/>
            <a:ext cx="3000000" cy="271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r" rtl="0"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(Morgan, 2013)</a:t>
            </a:r>
          </a:p>
        </p:txBody>
      </p:sp>
    </p:spTree>
    <p:custDataLst>
      <p:tags r:id="rId1"/>
    </p:custDataLst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 1: Students don’t have the skills employers want</a:t>
            </a:r>
          </a:p>
        </p:txBody>
      </p:sp>
      <p:sp>
        <p:nvSpPr>
          <p:cNvPr id="127" name="Shape 127"/>
          <p:cNvSpPr txBox="1">
            <a:spLocks noGrp="1"/>
          </p:cNvSpPr>
          <p:nvPr>
            <p:ph sz="quarter" idx="1"/>
          </p:nvPr>
        </p:nvSpPr>
        <p:spPr>
          <a:xfrm>
            <a:off x="395536" y="1700808"/>
            <a:ext cx="4938599" cy="4526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80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John Longworth:</a:t>
            </a: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4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were problems around graduates “being ready for work and having the softer skills needed: a range of communication skills, punctuality, motivation – which businesses often complain about. And actually complain about with good reason as well.” (Morgan, 2013)</a:t>
            </a:r>
          </a:p>
          <a:p>
            <a:endParaRPr lang="en-US" sz="24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Shape 12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701443" y="2132856"/>
            <a:ext cx="2969150" cy="29297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>
            <a:off x="152400" y="1523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400" b="0" i="0" u="none" strike="noStrike" cap="none" baseline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Analysis of position 1</a:t>
            </a:r>
          </a:p>
        </p:txBody>
      </p:sp>
      <p:sp>
        <p:nvSpPr>
          <p:cNvPr id="135" name="Shape 135"/>
          <p:cNvSpPr txBox="1">
            <a:spLocks noGrp="1"/>
          </p:cNvSpPr>
          <p:nvPr>
            <p:ph sz="quarter" idx="1"/>
          </p:nvPr>
        </p:nvSpPr>
        <p:spPr>
          <a:xfrm>
            <a:off x="251520" y="1207156"/>
            <a:ext cx="6650450" cy="4526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6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context of work-based </a:t>
            </a:r>
            <a:r>
              <a:rPr lang="en-US" sz="26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br>
              <a:rPr lang="en-US" sz="26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800" i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8000" marR="0" lvl="0" indent="-457200" algn="l" rtl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600" b="0" i="1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discourse of deficit: 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‘Common-sense’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labelling and </a:t>
            </a: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simplification</a:t>
            </a:r>
          </a:p>
          <a:p>
            <a:pPr marL="508000" marR="0" lvl="0" indent="-457200" algn="l" rtl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‘Learning 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becoming’ and ‘boundary crossing’ </a:t>
            </a: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Hager and </a:t>
            </a:r>
            <a:r>
              <a:rPr lang="en-US" sz="2600" b="0" i="0" u="none" strike="noStrike" cap="none" baseline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Hodkinson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2009, p.635) </a:t>
            </a:r>
            <a:b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rather than learning </a:t>
            </a: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</a:t>
            </a:r>
          </a:p>
          <a:p>
            <a:pPr marL="50800" marR="0" lvl="0" indent="0" algn="l" rtl="0">
              <a:lnSpc>
                <a:spcPct val="80000"/>
              </a:lnSpc>
              <a:spcBef>
                <a:spcPts val="540"/>
              </a:spcBef>
              <a:buClr>
                <a:schemeClr val="dk1"/>
              </a:buClr>
              <a:buSzPct val="100000"/>
              <a:buNone/>
            </a:pPr>
            <a:endParaRPr lang="en-US" sz="10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544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6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context of Media Studies ‘Mickey Mouse’ </a:t>
            </a:r>
            <a:br>
              <a:rPr lang="en-US" sz="26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 i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marginalisation</a:t>
            </a:r>
            <a:r>
              <a:rPr lang="en-US" sz="26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6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8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76250" marR="0" lvl="0" indent="-457200" algn="l" rtl="0">
              <a:lnSpc>
                <a:spcPct val="80000"/>
              </a:lnSpc>
              <a:spcBef>
                <a:spcPts val="54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 with addressing stakeholder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needs, </a:t>
            </a:r>
            <a:b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digital competencies</a:t>
            </a:r>
          </a:p>
          <a:p>
            <a:pPr marL="476250" marR="0" lvl="0" indent="-457200" algn="l" rtl="0">
              <a:lnSpc>
                <a:spcPct val="80000"/>
              </a:lnSpc>
              <a:spcBef>
                <a:spcPts val="54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Incongruence between critical media literacy </a:t>
            </a: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subject </a:t>
            </a:r>
            <a:r>
              <a:rPr lang="en-US" sz="2600" b="0" i="0" u="none" strike="noStrike" cap="none" baseline="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marginalisation</a:t>
            </a:r>
            <a:endParaRPr lang="en-US" sz="26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Shape 13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162613" y="1413643"/>
            <a:ext cx="1613643" cy="1780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Shape 137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068342" y="4221088"/>
            <a:ext cx="1802183" cy="151216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 2: Students are not studying the right degree subjects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sz="quarter" idx="1"/>
          </p:nvPr>
        </p:nvSpPr>
        <p:spPr>
          <a:xfrm>
            <a:off x="381175" y="1919550"/>
            <a:ext cx="4038599" cy="4526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800" b="1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John Longworth:</a:t>
            </a:r>
          </a:p>
          <a:p>
            <a:pPr marL="457200" marR="0" lvl="1" indent="0" algn="l" rtl="0">
              <a:spcBef>
                <a:spcPts val="48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 Longworth countered that “if students come out of universities with the wrong degrees and/or are not ready for work, like it or not, they won’t be employed. It’s as simple as that.” (Morgan, 2013)</a:t>
            </a:r>
          </a:p>
          <a:p>
            <a:endParaRPr lang="en-US" sz="2400" b="0" i="0" u="none" strike="noStrike" cap="none" baseline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Shape 14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648200" y="2436850"/>
            <a:ext cx="4038599" cy="2852661"/>
          </a:xfrm>
          <a:prstGeom prst="rect">
            <a:avLst/>
          </a:prstGeom>
        </p:spPr>
      </p:pic>
      <p:sp>
        <p:nvSpPr>
          <p:cNvPr id="146" name="Shape 146"/>
          <p:cNvSpPr/>
          <p:nvPr/>
        </p:nvSpPr>
        <p:spPr>
          <a:xfrm>
            <a:off x="155575" y="-144463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/>
          </a:p>
        </p:txBody>
      </p:sp>
    </p:spTree>
    <p:custDataLst>
      <p:tags r:id="rId1"/>
    </p:custDataLst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title"/>
          </p:nvPr>
        </p:nvSpPr>
        <p:spPr>
          <a:xfrm>
            <a:off x="152400" y="1523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400" b="0" i="0" u="none" strike="noStrike" cap="none" baseline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Analysis of position 2</a:t>
            </a:r>
          </a:p>
        </p:txBody>
      </p:sp>
      <p:sp>
        <p:nvSpPr>
          <p:cNvPr id="152" name="Shape 152"/>
          <p:cNvSpPr txBox="1">
            <a:spLocks noGrp="1"/>
          </p:cNvSpPr>
          <p:nvPr>
            <p:ph sz="quarter" idx="1"/>
          </p:nvPr>
        </p:nvSpPr>
        <p:spPr>
          <a:xfrm>
            <a:off x="179512" y="146296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9250" marR="0" lvl="0" indent="-342900" algn="l" rtl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Positioning of subjects such as Media Studies as </a:t>
            </a:r>
            <a:b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lacking value (or ‘Mickey Mouse’ and ‘pub chat’) </a:t>
            </a:r>
          </a:p>
          <a:p>
            <a:pPr marL="349250" marR="0" lvl="0" indent="-342900" algn="l" rtl="0">
              <a:lnSpc>
                <a:spcPct val="80000"/>
              </a:lnSpc>
              <a:spcBef>
                <a:spcPts val="50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</a:t>
            </a: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hort-hand’ for describing perceived problems </a:t>
            </a:r>
            <a:b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other subjects (Berger &amp; McDougall, 2013, p.6) </a:t>
            </a:r>
          </a:p>
          <a:p>
            <a:pPr marL="349250" marR="0" lvl="0" indent="-342900" algn="l" rtl="0">
              <a:lnSpc>
                <a:spcPct val="80000"/>
              </a:lnSpc>
              <a:spcBef>
                <a:spcPts val="50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Detailed </a:t>
            </a:r>
            <a:r>
              <a:rPr lang="en-US" sz="23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defence</a:t>
            </a: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be found at: </a:t>
            </a:r>
            <a:r>
              <a:rPr lang="en-US" sz="23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http://www.manifestoformediaeducation.co.uk/</a:t>
            </a: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l" rtl="0">
              <a:lnSpc>
                <a:spcPct val="80000"/>
              </a:lnSpc>
              <a:spcBef>
                <a:spcPts val="50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200" b="1" i="1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1" i="1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300" b="1" i="1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Reasons</a:t>
            </a:r>
            <a:r>
              <a:rPr lang="en-US" sz="2300" b="1" i="1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349250" marR="0" lvl="0" indent="-342900" algn="l" rtl="0">
              <a:lnSpc>
                <a:spcPct val="80000"/>
              </a:lnSpc>
              <a:spcBef>
                <a:spcPts val="50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Lack of fit with ‘common sense’ ‘vocational’ </a:t>
            </a:r>
            <a:b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‘academic’ labelling – is this a strength?</a:t>
            </a:r>
          </a:p>
          <a:p>
            <a:pPr marL="349250" marR="0" lvl="0" indent="-342900" algn="l" rtl="0">
              <a:lnSpc>
                <a:spcPct val="80000"/>
              </a:lnSpc>
              <a:spcBef>
                <a:spcPts val="50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we want students to be able to think </a:t>
            </a:r>
            <a:b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cademic criticality) and </a:t>
            </a: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‘use skills’</a:t>
            </a: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vocational)</a:t>
            </a:r>
            <a:r>
              <a:rPr lang="en-US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lang="en-US" sz="23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349250" lvl="0" indent="-342900">
              <a:lnSpc>
                <a:spcPct val="80000"/>
              </a:lnSpc>
              <a:spcBef>
                <a:spcPts val="50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300" dirty="0" smtClean="0"/>
              <a:t>can </a:t>
            </a:r>
            <a:r>
              <a:rPr lang="en-US" sz="2300" dirty="0"/>
              <a:t>support creativity, entrepreneurism, </a:t>
            </a:r>
            <a:r>
              <a:rPr lang="en-US" sz="2300" dirty="0" smtClean="0"/>
              <a:t> innovation </a:t>
            </a:r>
            <a:br>
              <a:rPr lang="en-US" sz="2300" dirty="0" smtClean="0"/>
            </a:br>
            <a:r>
              <a:rPr lang="en-US" sz="2300" dirty="0" smtClean="0"/>
              <a:t>and </a:t>
            </a:r>
            <a:r>
              <a:rPr lang="en-US" sz="2300" dirty="0"/>
              <a:t>Digital Literacies (McDougall and </a:t>
            </a:r>
            <a:br>
              <a:rPr lang="en-US" sz="2300" dirty="0"/>
            </a:br>
            <a:r>
              <a:rPr lang="en-US" sz="2300" dirty="0"/>
              <a:t>EC Report) - also empowers student.</a:t>
            </a:r>
            <a:endParaRPr lang="en-US" sz="23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23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23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23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Shape 153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342688" y="3717032"/>
            <a:ext cx="1514274" cy="216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Shape 154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7185425" y="1462962"/>
            <a:ext cx="1828800" cy="14382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 3: Students have been ‘sold’ employability as a solution to tuition fees</a:t>
            </a:r>
          </a:p>
        </p:txBody>
      </p:sp>
      <p:sp>
        <p:nvSpPr>
          <p:cNvPr id="161" name="Shape 161"/>
          <p:cNvSpPr txBox="1">
            <a:spLocks noGrp="1"/>
          </p:cNvSpPr>
          <p:nvPr>
            <p:ph sz="quarter" idx="1"/>
          </p:nvPr>
        </p:nvSpPr>
        <p:spPr>
          <a:xfrm>
            <a:off x="467544" y="1772816"/>
            <a:ext cx="4038599" cy="4526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80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Toni Pearce:</a:t>
            </a:r>
          </a:p>
          <a:p>
            <a:pPr marL="457200" marR="0" lvl="1" indent="0" algn="l" rtl="0">
              <a:spcBef>
                <a:spcPts val="48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400" b="0" i="0" u="none" strike="noStrike" cap="none" baseline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</a:t>
            </a:r>
            <a:r>
              <a:rPr lang="en-US" sz="24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Pearce said the real problem was that students expecting to graduate into a secure job if they studied hard had been “sold a bit of a lie”. (Morgan, 2013)</a:t>
            </a:r>
          </a:p>
          <a:p>
            <a:endParaRPr lang="en-US" sz="24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24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Shape 16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957416" y="1844824"/>
            <a:ext cx="2833263" cy="31209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>
            <a:spLocks noGrp="1"/>
          </p:cNvSpPr>
          <p:nvPr>
            <p:ph type="title"/>
          </p:nvPr>
        </p:nvSpPr>
        <p:spPr>
          <a:xfrm>
            <a:off x="138050" y="1523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400" b="0" i="0" u="none" strike="noStrike" cap="none" baseline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Analysis of position 3</a:t>
            </a:r>
          </a:p>
        </p:txBody>
      </p:sp>
      <p:sp>
        <p:nvSpPr>
          <p:cNvPr id="169" name="Shape 169"/>
          <p:cNvSpPr txBox="1">
            <a:spLocks noGrp="1"/>
          </p:cNvSpPr>
          <p:nvPr>
            <p:ph sz="quarter" idx="1"/>
          </p:nvPr>
        </p:nvSpPr>
        <p:spPr>
          <a:xfrm>
            <a:off x="467544" y="2924944"/>
            <a:ext cx="8229600" cy="295232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7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dimensions</a:t>
            </a:r>
            <a:r>
              <a:rPr lang="en-US" sz="2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learner experience of employability in higher </a:t>
            </a:r>
            <a:r>
              <a:rPr lang="en-US" sz="27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education: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buNone/>
            </a:pPr>
            <a:endParaRPr lang="en-US" sz="27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Blip>
                <a:blip r:embed="rId4"/>
              </a:buBlip>
            </a:pPr>
            <a:r>
              <a:rPr lang="en-US" sz="27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Learners </a:t>
            </a:r>
            <a:r>
              <a:rPr lang="en-US" sz="27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HE with improved </a:t>
            </a:r>
            <a:r>
              <a:rPr lang="en-US" sz="2700" b="0" i="1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employment</a:t>
            </a:r>
            <a:r>
              <a:rPr lang="en-US" sz="27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opportunities, i.e. </a:t>
            </a:r>
            <a:r>
              <a:rPr lang="en-US" sz="2700" b="0" i="0" u="none" strike="noStrike" cap="none" baseline="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Futuretrack</a:t>
            </a:r>
            <a:endParaRPr lang="en-US"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Blip>
                <a:blip r:embed="rId4"/>
              </a:buBlip>
            </a:pPr>
            <a:r>
              <a:rPr lang="en-US" sz="27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Employability </a:t>
            </a:r>
            <a:r>
              <a:rPr lang="en-US" sz="2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measure of H.E. performance rather than graduate effectiveness in the workplace, e.g. </a:t>
            </a:r>
            <a:r>
              <a:rPr lang="en-US" sz="27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UNISTATS </a:t>
            </a:r>
          </a:p>
        </p:txBody>
      </p:sp>
      <p:pic>
        <p:nvPicPr>
          <p:cNvPr id="170" name="Shape 17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555776" y="1606149"/>
            <a:ext cx="974372" cy="114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Shape 17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139952" y="1496610"/>
            <a:ext cx="2381250" cy="13620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 4: Who owns it? Where does it belong?</a:t>
            </a:r>
          </a:p>
        </p:txBody>
      </p:sp>
      <p:sp>
        <p:nvSpPr>
          <p:cNvPr id="177" name="Shape 177"/>
          <p:cNvSpPr txBox="1">
            <a:spLocks noGrp="1"/>
          </p:cNvSpPr>
          <p:nvPr>
            <p:ph sz="quarter" idx="1"/>
          </p:nvPr>
        </p:nvSpPr>
        <p:spPr>
          <a:xfrm>
            <a:off x="467544" y="1412776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60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John Brookes:</a:t>
            </a:r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22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“I’m fed up with employers telling us our students are not employment-ready. I think…that employers are not graduate-ready.” He argued that  modern graduates, with an “independent, autonomous approach to learning and their understanding of technology, frankly scare employers”. (Morgan, 2013)</a:t>
            </a:r>
          </a:p>
          <a:p>
            <a:endParaRPr lang="en-US" sz="22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Shape 17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253968" y="1844824"/>
            <a:ext cx="3032070" cy="333987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>
            <a:spLocks noGrp="1"/>
          </p:cNvSpPr>
          <p:nvPr>
            <p:ph type="title"/>
          </p:nvPr>
        </p:nvSpPr>
        <p:spPr>
          <a:xfrm>
            <a:off x="152400" y="1523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400" b="0" i="0" u="none" strike="noStrike" cap="none" baseline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Analysis of position 4</a:t>
            </a:r>
          </a:p>
        </p:txBody>
      </p:sp>
      <p:sp>
        <p:nvSpPr>
          <p:cNvPr id="185" name="Shape 185"/>
          <p:cNvSpPr txBox="1">
            <a:spLocks noGrp="1"/>
          </p:cNvSpPr>
          <p:nvPr>
            <p:ph sz="quarter" idx="1"/>
          </p:nvPr>
        </p:nvSpPr>
        <p:spPr>
          <a:xfrm>
            <a:off x="457200" y="1295400"/>
            <a:ext cx="8229600" cy="5141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r>
              <a:rPr lang="en-US" sz="29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950" b="1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 tensions:</a:t>
            </a:r>
          </a:p>
          <a:p>
            <a:pPr marL="520700" marR="0" lvl="0" indent="-457200" algn="l" rtl="0">
              <a:spcBef>
                <a:spcPts val="52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is responsible for ensuring that </a:t>
            </a: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students’ are ‘work-ready’?</a:t>
            </a:r>
          </a:p>
          <a:p>
            <a:pPr marL="520700" marR="0" lvl="0" indent="-457200" algn="l" rtl="0">
              <a:spcBef>
                <a:spcPts val="52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Deliberate separation of subject from skill, </a:t>
            </a: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academia from vocation</a:t>
            </a:r>
          </a:p>
          <a:p>
            <a:pPr marL="0" marR="0" lvl="0" indent="0" algn="l" rtl="0">
              <a:spcBef>
                <a:spcPts val="590"/>
              </a:spcBef>
              <a:buNone/>
            </a:pPr>
            <a:r>
              <a:rPr lang="en-US" sz="295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resistant response to an incongruent agenda?</a:t>
            </a:r>
          </a:p>
          <a:p>
            <a:pPr marL="0" marR="0" lvl="0" indent="0" algn="l" rtl="0">
              <a:spcBef>
                <a:spcPts val="590"/>
              </a:spcBef>
              <a:buNone/>
            </a:pPr>
            <a:r>
              <a:rPr lang="en-US" sz="2950" b="1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Headlines in the THES: </a:t>
            </a:r>
          </a:p>
          <a:p>
            <a:pPr marL="520700" marR="0" lvl="0" indent="-457200" algn="l" rtl="0">
              <a:spcBef>
                <a:spcPts val="59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‘Employment Skills Don’t Fit with </a:t>
            </a:r>
            <a:b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Academic Degrees’ (Matthews, 2013b) </a:t>
            </a:r>
          </a:p>
          <a:p>
            <a:pPr marL="520700" marR="0" lvl="0" indent="-457200" algn="l" rtl="0">
              <a:spcBef>
                <a:spcPts val="59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‘Beware the Student Employability Agenda’ </a:t>
            </a:r>
            <a:b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(Matthews, 2013a). </a:t>
            </a:r>
          </a:p>
        </p:txBody>
      </p:sp>
      <p:pic>
        <p:nvPicPr>
          <p:cNvPr id="186" name="Shape 18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319555" y="1772816"/>
            <a:ext cx="1304199" cy="1436575"/>
          </a:xfrm>
          <a:prstGeom prst="rect">
            <a:avLst/>
          </a:prstGeom>
        </p:spPr>
      </p:pic>
      <p:pic>
        <p:nvPicPr>
          <p:cNvPr id="187" name="Shape 187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006868" y="4653136"/>
            <a:ext cx="1929575" cy="12945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title"/>
          </p:nvPr>
        </p:nvSpPr>
        <p:spPr>
          <a:xfrm>
            <a:off x="152400" y="1523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400" b="0" i="0" u="none" strike="noStrike" cap="none" baseline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Recommendations / </a:t>
            </a:r>
            <a:r>
              <a:rPr lang="en-US" sz="44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4400" b="0" i="0" u="none" strike="noStrike" cap="none" baseline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iscussion</a:t>
            </a:r>
          </a:p>
        </p:txBody>
      </p:sp>
      <p:sp>
        <p:nvSpPr>
          <p:cNvPr id="193" name="Shape 193"/>
          <p:cNvSpPr txBox="1">
            <a:spLocks noGrp="1"/>
          </p:cNvSpPr>
          <p:nvPr>
            <p:ph sz="quarter" idx="1"/>
          </p:nvPr>
        </p:nvSpPr>
        <p:spPr>
          <a:xfrm>
            <a:off x="467544" y="126876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4826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8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consideration and use of subjects by stakeholders for skills </a:t>
            </a:r>
            <a:r>
              <a:rPr lang="en-US" sz="28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 (McDougall – EC Report)</a:t>
            </a:r>
            <a:endParaRPr lang="en-US" sz="28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2600" marR="0" lvl="0" indent="-457200" algn="l" rtl="0">
              <a:spcBef>
                <a:spcPts val="64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8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for all stakeholders</a:t>
            </a:r>
          </a:p>
          <a:p>
            <a:pPr marL="457200" lvl="0" indent="0">
              <a:spcBef>
                <a:spcPts val="640"/>
              </a:spcBef>
              <a:buNone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‘Professional activism’ to ‘look inside each others castles’ (Sachs, 2000, </a:t>
            </a:r>
            <a:r>
              <a:rPr lang="en-US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p.81-82) - 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accepting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working with explicit stakeholder positions</a:t>
            </a:r>
            <a:endParaRPr lang="en-US"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2600" marR="0" lvl="0" indent="-457200" algn="l" rtl="0">
              <a:spcBef>
                <a:spcPts val="64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8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Re-evaluation of the boundaries between vocational and </a:t>
            </a:r>
            <a:r>
              <a:rPr lang="en-US" sz="28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academic – problematic for all stakeholders</a:t>
            </a:r>
            <a:endParaRPr lang="en-US" sz="28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2600" marR="0" lvl="0" indent="-457200" algn="l" rtl="0">
              <a:spcBef>
                <a:spcPts val="640"/>
              </a:spcBef>
              <a:buClr>
                <a:schemeClr val="dk1"/>
              </a:buClr>
              <a:buSzPct val="100000"/>
              <a:buBlip>
                <a:blip r:embed="rId4"/>
              </a:buBlip>
            </a:pPr>
            <a:r>
              <a:rPr lang="en-US" sz="2800" b="0" i="0" u="none" strike="noStrike" cap="none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Going beyond the deficit model </a:t>
            </a:r>
          </a:p>
          <a:p>
            <a:pPr marL="457200" marR="0" lvl="0" indent="0" algn="l" rtl="0">
              <a:spcBef>
                <a:spcPts val="640"/>
              </a:spcBef>
              <a:buNone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Peach (2010, p.456) ‘socially critical </a:t>
            </a:r>
            <a:r>
              <a:rPr lang="en-US" sz="2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vocationalism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</a:p>
        </p:txBody>
      </p:sp>
    </p:spTree>
    <p:custDataLst>
      <p:tags r:id="rId1"/>
    </p:custDataLst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>
            <a:spLocks noGrp="1"/>
          </p:cNvSpPr>
          <p:nvPr>
            <p:ph type="title"/>
          </p:nvPr>
        </p:nvSpPr>
        <p:spPr>
          <a:xfrm>
            <a:off x="152400" y="1222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400" b="0" i="0" u="none" strike="noStrike" cap="none" baseline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</a:p>
        </p:txBody>
      </p:sp>
      <p:sp>
        <p:nvSpPr>
          <p:cNvPr id="200" name="Shape 200"/>
          <p:cNvSpPr txBox="1">
            <a:spLocks noGrp="1"/>
          </p:cNvSpPr>
          <p:nvPr>
            <p:ph sz="quarter" idx="1"/>
          </p:nvPr>
        </p:nvSpPr>
        <p:spPr>
          <a:xfrm>
            <a:off x="152400" y="1165950"/>
            <a:ext cx="4470300" cy="4526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Alberani, V., De Castro Pietrangeli, P. &amp; Mazza, a M. (1990) ‘The use of grey literature in health sciences: a preliminary survey’, </a:t>
            </a:r>
            <a:r>
              <a:rPr lang="en-US" sz="1100" i="1">
                <a:solidFill>
                  <a:schemeClr val="dk1"/>
                </a:solidFill>
              </a:rPr>
              <a:t>Bulletin of the Medical Library Association</a:t>
            </a:r>
            <a:r>
              <a:rPr lang="en-US" sz="1100">
                <a:solidFill>
                  <a:schemeClr val="dk1"/>
                </a:solidFill>
              </a:rPr>
              <a:t>, 78 (4), pp.358–63.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Berger, R. &amp; McDougall, J. (2013) ‘Editorial: What Is Media Education For?’, </a:t>
            </a:r>
            <a:r>
              <a:rPr lang="en-US" sz="1100" i="1">
                <a:solidFill>
                  <a:schemeClr val="dk1"/>
                </a:solidFill>
              </a:rPr>
              <a:t>Media Education Research Journal</a:t>
            </a:r>
            <a:r>
              <a:rPr lang="en-US" sz="1100">
                <a:solidFill>
                  <a:schemeClr val="dk1"/>
                </a:solidFill>
              </a:rPr>
              <a:t>, 3 (1), pp.5-20.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Fairclough, N. (1995) </a:t>
            </a:r>
            <a:r>
              <a:rPr lang="en-US" sz="1100" i="1">
                <a:solidFill>
                  <a:schemeClr val="dk1"/>
                </a:solidFill>
              </a:rPr>
              <a:t>Critical Discourse Analysis</a:t>
            </a:r>
            <a:r>
              <a:rPr lang="en-US" sz="1100">
                <a:solidFill>
                  <a:schemeClr val="dk1"/>
                </a:solidFill>
              </a:rPr>
              <a:t>. London: Longman.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Fairclough, N. (2009) ‘A dialectical – relational approach to critical discourse analysis in social research’ in Wodak, R. &amp; Meyer, M. (eds.) </a:t>
            </a:r>
            <a:r>
              <a:rPr lang="en-US" sz="1100" i="1">
                <a:solidFill>
                  <a:schemeClr val="dk1"/>
                </a:solidFill>
              </a:rPr>
              <a:t>Methods of Critical Discourse Analysis</a:t>
            </a:r>
            <a:r>
              <a:rPr lang="en-US" sz="1100">
                <a:solidFill>
                  <a:schemeClr val="dk1"/>
                </a:solidFill>
              </a:rPr>
              <a:t>. London: SAGE, pp.162-186.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Hager, P. &amp; Hodkinson, P. (2009) ‘Moving beyond the metaphor of transfer of learning’, </a:t>
            </a:r>
            <a:r>
              <a:rPr lang="en-US" sz="1100" i="1">
                <a:solidFill>
                  <a:schemeClr val="dk1"/>
                </a:solidFill>
              </a:rPr>
              <a:t>British Educational Research Journal</a:t>
            </a:r>
            <a:r>
              <a:rPr lang="en-US" sz="1100">
                <a:solidFill>
                  <a:schemeClr val="dk1"/>
                </a:solidFill>
              </a:rPr>
              <a:t>, 35 (4), pp.619–638.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Matthews, D. (2013a) ‘Beware the student employability agenda’, </a:t>
            </a:r>
            <a:r>
              <a:rPr lang="en-US" sz="1100" i="1">
                <a:solidFill>
                  <a:schemeClr val="dk1"/>
                </a:solidFill>
              </a:rPr>
              <a:t>Times Higher Educational Supplement</a:t>
            </a:r>
            <a:r>
              <a:rPr lang="en-US" sz="1100">
                <a:solidFill>
                  <a:schemeClr val="dk1"/>
                </a:solidFill>
              </a:rPr>
              <a:t>, 19 Feb [online]. Available at:</a:t>
            </a:r>
            <a:r>
              <a:rPr lang="en-US" sz="1100">
                <a:solidFill>
                  <a:schemeClr val="dk1"/>
                </a:solidFill>
                <a:hlinkClick r:id="rId4"/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http://www.timeshighereducation.co.uk/beware-the-student-employability-agenda-debate-hears/2001677.article</a:t>
            </a:r>
            <a:r>
              <a:rPr lang="en-US" sz="1100">
                <a:solidFill>
                  <a:schemeClr val="dk1"/>
                </a:solidFill>
              </a:rPr>
              <a:t> (Accessed: 14 January 2014).</a:t>
            </a:r>
          </a:p>
          <a:p>
            <a:endParaRPr lang="en-US" sz="1100">
              <a:solidFill>
                <a:schemeClr val="dk1"/>
              </a:solidFill>
            </a:endParaRPr>
          </a:p>
        </p:txBody>
      </p:sp>
      <p:sp>
        <p:nvSpPr>
          <p:cNvPr id="201" name="Shape 201"/>
          <p:cNvSpPr txBox="1">
            <a:spLocks noGrp="1"/>
          </p:cNvSpPr>
          <p:nvPr>
            <p:ph type="body" idx="4294967295"/>
          </p:nvPr>
        </p:nvSpPr>
        <p:spPr>
          <a:xfrm>
            <a:off x="4673600" y="1165225"/>
            <a:ext cx="4470400" cy="4527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Matthews, D. (2013b) ‘Employment skills don’t fit with academic degrees’, </a:t>
            </a:r>
            <a:r>
              <a:rPr lang="en-US" sz="1200" i="1">
                <a:solidFill>
                  <a:schemeClr val="dk1"/>
                </a:solidFill>
              </a:rPr>
              <a:t>Times Higher Educational Supplement</a:t>
            </a:r>
            <a:r>
              <a:rPr lang="en-US" sz="1200">
                <a:solidFill>
                  <a:schemeClr val="dk1"/>
                </a:solidFill>
              </a:rPr>
              <a:t>, 28 Nov [online]. Available at:</a:t>
            </a:r>
            <a:r>
              <a:rPr lang="en-US" sz="1200">
                <a:solidFill>
                  <a:schemeClr val="dk1"/>
                </a:solidFill>
                <a:hlinkClick r:id="rId5"/>
              </a:rPr>
              <a:t> </a:t>
            </a:r>
            <a:r>
              <a:rPr lang="en-US" sz="1200" u="sng">
                <a:solidFill>
                  <a:schemeClr val="hlink"/>
                </a:solidFill>
                <a:hlinkClick r:id="rId5"/>
              </a:rPr>
              <a:t>http://www.timeshighereducation.co.uk/news/employment-skills-dont-fit-with-academic-degrees/2009378.article</a:t>
            </a:r>
            <a:r>
              <a:rPr lang="en-US" sz="1200">
                <a:solidFill>
                  <a:schemeClr val="dk1"/>
                </a:solidFill>
              </a:rPr>
              <a:t> (Accessed: 14 January 2014).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Morgan, J. (2013) ‘Manchester Met v-c hits back on graduate employment’, </a:t>
            </a:r>
            <a:r>
              <a:rPr lang="en-US" sz="1100" i="1">
                <a:solidFill>
                  <a:schemeClr val="dk1"/>
                </a:solidFill>
              </a:rPr>
              <a:t>Times Higher Education Supplement</a:t>
            </a:r>
            <a:r>
              <a:rPr lang="en-US" sz="1100">
                <a:solidFill>
                  <a:schemeClr val="dk1"/>
                </a:solidFill>
              </a:rPr>
              <a:t>, 1 October [Online]. Available at:</a:t>
            </a:r>
            <a:r>
              <a:rPr lang="en-US" sz="1100">
                <a:solidFill>
                  <a:schemeClr val="dk1"/>
                </a:solidFill>
                <a:hlinkClick r:id="rId6"/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6"/>
              </a:rPr>
              <a:t>http://www.timeshighereducation.co.uk/home/manchester-met-v-c-hits-back-on-graduate-employment/2007814.article</a:t>
            </a:r>
            <a:r>
              <a:rPr lang="en-US" sz="1100">
                <a:solidFill>
                  <a:schemeClr val="dk1"/>
                </a:solidFill>
              </a:rPr>
              <a:t> (Accessed: 26 December 2013).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Peach, S (2010) ‘A curriculum philosophy for higher education: socially critical vocationalism’, </a:t>
            </a:r>
            <a:r>
              <a:rPr lang="en-US" sz="1100" i="1">
                <a:solidFill>
                  <a:schemeClr val="dk1"/>
                </a:solidFill>
              </a:rPr>
              <a:t>Teaching in Higher Education, </a:t>
            </a:r>
            <a:r>
              <a:rPr lang="en-US" sz="1100">
                <a:solidFill>
                  <a:schemeClr val="dk1"/>
                </a:solidFill>
              </a:rPr>
              <a:t>15 (4), pp.449-460.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Sachs, J. (2000) ‘The Activist Professional’, </a:t>
            </a:r>
            <a:r>
              <a:rPr lang="en-US" sz="1100" i="1">
                <a:solidFill>
                  <a:schemeClr val="dk1"/>
                </a:solidFill>
              </a:rPr>
              <a:t>Journal of Educational Change</a:t>
            </a:r>
            <a:r>
              <a:rPr lang="en-US" sz="1100">
                <a:solidFill>
                  <a:schemeClr val="dk1"/>
                </a:solidFill>
              </a:rPr>
              <a:t>, 1 (1), pp.77-95.</a:t>
            </a:r>
          </a:p>
          <a:p>
            <a:endParaRPr lang="en-US" sz="1100">
              <a:solidFill>
                <a:schemeClr val="dk1"/>
              </a:solidFill>
            </a:endParaRPr>
          </a:p>
          <a:p>
            <a:endParaRPr lang="en-US" sz="1100">
              <a:solidFill>
                <a:schemeClr val="dk1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35</TotalTime>
  <Words>856</Words>
  <Application>Microsoft Office PowerPoint</Application>
  <PresentationFormat>On-screen Show (4:3)</PresentationFormat>
  <Paragraphs>91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Origin</vt:lpstr>
      <vt:lpstr>Mickey Mouse Learning: Discourses of the Vocational/Technical in Higher  Education </vt:lpstr>
      <vt:lpstr>Introduction</vt:lpstr>
      <vt:lpstr>Context and Methodology</vt:lpstr>
      <vt:lpstr>THES Article: Employability Tensions</vt:lpstr>
      <vt:lpstr>Position 1: Students don’t have the skills employers want</vt:lpstr>
      <vt:lpstr>Analysis of position 1</vt:lpstr>
      <vt:lpstr>Position 2: Students are not studying the right degree subjects</vt:lpstr>
      <vt:lpstr>Analysis of position 2</vt:lpstr>
      <vt:lpstr>Position 3: Students have been ‘sold’ employability as a solution to tuition fees</vt:lpstr>
      <vt:lpstr>Analysis of position 3</vt:lpstr>
      <vt:lpstr>Position 4: Who owns it? Where does it belong?</vt:lpstr>
      <vt:lpstr>Analysis of position 4</vt:lpstr>
      <vt:lpstr>Recommendations / Discussion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Mickey Mouse Learning: Discourses of the Vocational/Technical in Higher  Education</dc:title>
  <dc:creator>Harriet Richmond</dc:creator>
  <cp:lastModifiedBy> </cp:lastModifiedBy>
  <cp:revision>6</cp:revision>
  <dcterms:modified xsi:type="dcterms:W3CDTF">2014-01-28T11:39:05Z</dcterms:modified>
</cp:coreProperties>
</file>